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r_logo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90" y="73152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65176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F5D4"/>
                </a:solidFill>
                <a:latin typeface="Arial"/>
              </a:defRPr>
            </a:pPr>
            <a:r>
              <a:t>MANDOROS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Arial"/>
              </a:defRPr>
            </a:pPr>
            <a:r>
              <a:t>Meta-Analysis Network for Data, Outcomes &amp; Research Optimization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>
                <a:solidFill>
                  <a:srgbClr val="38BDF8"/>
                </a:solidFill>
                <a:latin typeface="Arial"/>
              </a:defRPr>
            </a:pPr>
            <a:r>
              <a:t>— From Raw Trials to Global Clinical Verdicts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  <a:latin typeface="Arial"/>
              </a:defRPr>
            </a:pPr>
            <a:r>
              <a:t>PRISMA 2020 Compliant · Cochrane Handbook Core · wviechtb/metafor-Grade REML · Network Meta-Analysis &amp; SUCRA</a:t>
            </a:r>
            <a:br/>
            <a:r>
              <a:t>Official Keynote &amp; Technical Specification Presentation for Global Universities &amp; Clinical Researchers</a:t>
            </a:r>
            <a:br/>
            <a:r>
              <a:t>Live Production: https://mandoros.onrender.com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Table of Contents &amp; Academic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/>
          <a:lstStyle/>
          <a:p>
            <a:pPr algn="ctr">
              <a:defRPr sz="1300" b="1">
                <a:solidFill>
                  <a:srgbClr val="00F5D4"/>
                </a:solidFill>
                <a:latin typeface="Arial"/>
              </a:defRPr>
            </a:pPr>
            <a:r>
              <a:t>PART I: FOUNDATIONS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1. The Systematic Review Bottleneck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2. System Architecture &amp; Engineering Stack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3. The 8-Node Process Architecture (M-A-N-D-O-R-O-S)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/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PART II: CORE ENGINES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4. Stage-1 Atomic Curation (7 Sheets / 88 Fields)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5. Phase-2 Multi-Trial Evidence Synthesis &amp; REML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6. Network Meta-Analysis (NMA) &amp; SUCRA Hierarchy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/>
          <a:lstStyle/>
          <a:p>
            <a:pPr algn="ctr">
              <a:defRPr sz="1300" b="1">
                <a:solidFill>
                  <a:srgbClr val="A855F7"/>
                </a:solidFill>
                <a:latin typeface="Arial"/>
              </a:defRPr>
            </a:pPr>
            <a:r>
              <a:t>PART III: DISCOVERY &amp; PRACTICE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7. In-Silico Synthesis &amp; Virtual Clinical Trials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8. Step-by-Step User Walkthrough Manual</a:t>
            </a:r>
          </a:p>
          <a:p>
            <a:pPr>
              <a:spcBef>
                <a:spcPts val="14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9. Google AI Studio BYOK Tutorial &amp;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CLINICAL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Systematic Review Bottleneck vs MANDOROS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300" b="1">
                <a:solidFill>
                  <a:srgbClr val="F87171"/>
                </a:solidFill>
                <a:latin typeface="Arial"/>
              </a:defRPr>
            </a:pPr>
            <a:r>
              <a:t>THE PROBLEM: Critical Evidence Locked in Unstructured PDFs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• 12-24 Months Review Latency: Producing Cochrane reviews manually causes catastrophic clinical delays.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• Unstructured PDF Silos: Key endpoints, SDs, and patient subsets are trapped in nested multi-column tables.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• Methodological Heterogeneity: Differing endpoints, dose tiers, and follow-up weeks prevent direct pooling.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• LLM Hallucination Risk: General-purpose LLMs invent patient counts and confabulate treatment effects.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300" b="1">
                <a:solidFill>
                  <a:srgbClr val="00F5D4"/>
                </a:solidFill>
                <a:latin typeface="Arial"/>
              </a:defRPr>
            </a:pPr>
            <a:r>
              <a:t>THE MANDOROS SOLUTION: Deterministic Verbatim Synthesis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• Seconds, Not Years: Ingests 50-page RCTs and extracts 7 relational sheets in under 45 seconds.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• Verbatim Page &amp; Quote Provenance: Every single number is bound to exact source coordinates.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• Pure metafor Biostatistics: Python REML, Knapp-Hartung, and graph-theoretic NMA.</a:t>
            </a:r>
          </a:p>
          <a:p>
            <a:pPr>
              <a:spcBef>
                <a:spcPts val="1200"/>
              </a:spcBef>
              <a:defRPr sz="1100">
                <a:solidFill>
                  <a:srgbClr val="CBD5E1"/>
                </a:solidFill>
              </a:defRPr>
            </a:pPr>
            <a:r>
              <a:t>• In-Silico Virtual Trials: Imputes unmeasured endpoints and designs the next breakthrough trial.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System Architecture &amp; How MANDOROS Was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310896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900" b="1">
                <a:solidFill>
                  <a:srgbClr val="00F5D4"/>
                </a:solidFill>
              </a:defRPr>
            </a:pPr>
            <a:r>
              <a:t>LAYER 1 · INGESTION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Zero-Loss PDF Deconstruction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PyMuPDF / pdfplumber pipelines extract high-fidelity layout blocks, tables, footnotes, and vector graphics without optical truncation.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514600" cy="310896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LAYER 2 · EXTRACTION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Dual-Layer Consensus AI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Guided schema prompts enforce Pydantic AST validation, deterministic value/operator splits, and explicit not_reported boundaries.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514600" cy="310896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900" b="1">
                <a:solidFill>
                  <a:srgbClr val="A855F7"/>
                </a:solidFill>
              </a:defRPr>
            </a:pPr>
            <a:r>
              <a:t>LAYER 3 · BIOSTATISTICS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metafor &amp; netmeta Core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Replicates Wolfgang Viechtbauer's R metafor package in Python: REML, DerSimonian-Laird, Knapp-Hartung, and Bucher NMA.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514600" cy="310896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LAYER 4 · INTERFACE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Apple Glass Bento UI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Built on Gradio 6 / FastAPI with an Obsidian glassmorphism design system, responsive tabs, multi-file batch studio, and Plotly visuals.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10728655" cy="1097280"/>
          </a:xfrm>
          <a:prstGeom prst="roundRect">
            <a:avLst/>
          </a:prstGeom>
          <a:solidFill>
            <a:srgbClr val="0B162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🔒 EPISTEMIC INTEGRITY LAW: ZERO-IMPUTATION STAGE-1 GUARANTEE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If an endpoint, standard deviation, or patient count is omitted from the published trial, MANDOROS strictly tags it as not_reported during Stage-1 extraction. The platform never hallucinates baseline metrics or clinical values.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8-Node Process Architecture (M-A-N-D-O-R-O-S)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600" b="1">
                <a:solidFill>
                  <a:srgbClr val="00F5D4"/>
                </a:solidFill>
              </a:defRPr>
            </a:pPr>
            <a:r>
              <a:t>M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Meta-Analysis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DL, REML &amp; Knapp-Hartung pooling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51460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A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AI Automation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Verbatim quote-level page provenance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51460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600" b="1">
                <a:solidFill>
                  <a:srgbClr val="818CF8"/>
                </a:solidFill>
              </a:defRPr>
            </a:pPr>
            <a:r>
              <a:t>N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Network NMA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Bucher indirect comparison &amp; SUCRA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51460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600" b="1">
                <a:solidFill>
                  <a:srgbClr val="A78BFA"/>
                </a:solidFill>
              </a:defRPr>
            </a:pPr>
            <a:r>
              <a:t>D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Data Schema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88 canonical atomic value/unit fields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251460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O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Outcomes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Continuous, binary, survival &amp; longitudinal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931920"/>
            <a:ext cx="251460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600" b="1">
                <a:solidFill>
                  <a:srgbClr val="A855F7"/>
                </a:solidFill>
              </a:defRPr>
            </a:pPr>
            <a:r>
              <a:t>R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Research Rigor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CONSORT 2010 &amp; PRISMA 2020 verified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251460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600" b="1">
                <a:solidFill>
                  <a:srgbClr val="00F5D4"/>
                </a:solidFill>
              </a:defRPr>
            </a:pPr>
            <a:r>
              <a:t>O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Optimization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Scale-free SMD clinical domain bridging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3931920"/>
            <a:ext cx="251460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600" b="1">
                <a:solidFill>
                  <a:srgbClr val="38BDF8"/>
                </a:solidFill>
              </a:defRPr>
            </a:pPr>
            <a:r>
              <a:t>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Synthesis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In-silico latent imputation &amp; virtual trials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STAGE-1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Atomic Curation: 7 Relational Sheets &amp; 88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3840480"/>
                <a:gridCol w="2499055"/>
              </a:tblGrid>
              <a:tr h="5372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5D4"/>
                          </a:solidFill>
                        </a:defRPr>
                      </a:pPr>
                      <a:r>
                        <a:t>Relational Sheet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5D4"/>
                          </a:solidFill>
                        </a:defRPr>
                      </a:pPr>
                      <a:r>
                        <a:t>Clinical Domain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5D4"/>
                          </a:solidFill>
                        </a:defRPr>
                      </a:pPr>
                      <a:r>
                        <a:t>Atomic Fields Extracted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F5D4"/>
                          </a:solidFill>
                        </a:defRPr>
                      </a:pPr>
                      <a:r>
                        <a:t>Epistemic Guardrail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1. Master_Extraction_Sheet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Consolidated Evidence Overview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Study ID, Title, DOI, Phase, Total N, Primary Endpoint, Safety Verdict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Verbatim quote &amp; page provenance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2. Study_Characteristics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Design &amp; Methodological Rigor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Allocation, Masking, Design Type, Centers, Funding Source, Risk of Bias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CONSORT Item 1-10 compliance audit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3. Population_Baseline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Patient Demographics &amp; Labs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Mean/SD Age, % Female, BMI, Disease Duration, Baseline Diagnostic Markers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Cross-arm arithmetic conservation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4. Intervention_Arms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Pharmacological Regimens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Arm Name, Active Ingredient, Dosage, Route, Regimen Frequency, Titration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WHO ATC &amp; RxNorm standardization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5. Outcomes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Efficacy &amp; Safety Endpoints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Timepoint (Wks), Metric, Central Tendency, Dispersion, p-value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Deterministic Value/Operator/Unit split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6. Variables_Matrix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Trajectory Grid Across Arms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Normalized baseline vs post-baseline delta curves across all arms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Scale normalization &amp; CFB audit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7. Eligibility_Criteria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Inclusion &amp; Exclusion Matrix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Category, Atomic Variable, Relational Operator (&lt;, &lt;=, &gt;, &gt;=), Threshold, Unit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BD5E1"/>
                          </a:solidFill>
                        </a:defRPr>
                      </a:pPr>
                      <a:r>
                        <a:t>4-Operator mathematical validation</a:t>
                      </a:r>
                    </a:p>
                  </a:txBody>
                  <a:tcPr>
                    <a:solidFill>
                      <a:srgbClr val="0B162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PHASE-2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Multi-Trial Evidence Synthesis &amp; metafor Biostatistics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Restricted Maximum Likelihood (REML) &amp; Pooling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Restricted Maximum Likelihood (REML): Unbiased between-study variance estimation (tau^2) robust to small-sample distortion.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Knapp-Hartung Variance Correction: Adjusts confidence intervals to prevent false-positive inflation.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Comprehensive Heterogeneity: Cochran's Q test, Higgins' I^2 percentage, and 95% Prediction Intervals (PI).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Small-Study Bias: Egger's linear regression asymmetry and Begg-Mazumdar rank correlation test.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Leave-One-Out Sensitivity: Automatically recalculates meta-analysis excluding one study at a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Network Meta-Analysis (NMA) &amp; SUCRA Rankings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Bucher Indirect Comparison: Calculates indirect relative treatment effects across trials with common comparators.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SUCRA Probability Surfaces: Surface Under the Cumulative Ranking curves via Monte Carlo simulation.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P-Score Treatment Hierarchy: Continuous probability metrics ranking treatments from most effective to least.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Scale-Free SMD Domain Bridging: Hedges' g standardization reconciles divergent clinical instruments.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Subgroup Variance Decomposition: Cochran's Q_between evaluates dosage-tier and duration interactions.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IN-SILICO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In-Silico Emergent Synthesis: Inventing the Next Breakthrough Trial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000" b="1">
                <a:solidFill>
                  <a:srgbClr val="00F5D4"/>
                </a:solidFill>
              </a:defRPr>
            </a:pPr>
            <a:r>
              <a:t>SURROGATE IMPUTATION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Missing-Data Matrix Reconstruction</a:t>
            </a:r>
          </a:p>
          <a:p>
            <a:pPr>
              <a:spcBef>
                <a:spcPts val="1400"/>
              </a:spcBef>
              <a:defRPr sz="1050">
                <a:solidFill>
                  <a:srgbClr val="CBD5E1"/>
                </a:solidFill>
              </a:defRPr>
            </a:pPr>
            <a:r>
              <a:t>When pooling heterogeneous trials, incomplete studies that omitted a specific follow-up timepoint or secondary biomarker are scientifically reconstructed using cross-study surrogate regression and longitudinal trajectory splines.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PREDICTIVE SIMULATION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Dose–Duration Virtual Trial Simulator</a:t>
            </a:r>
          </a:p>
          <a:p>
            <a:pPr>
              <a:spcBef>
                <a:spcPts val="1400"/>
              </a:spcBef>
              <a:defRPr sz="1050">
                <a:solidFill>
                  <a:srgbClr val="CBD5E1"/>
                </a:solidFill>
              </a:defRPr>
            </a:pPr>
            <a:r>
              <a:t>Researchers can drag dosage (0–3,000 mg/day) and duration (4–156 weeks) sliders to forecast therapeutic responses with automated Extrapolation Risk Ratings (Safe Interpolation vs Mild vs Extreme Extrapolation).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DE-NOVO DESIGN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Synthesized Trial Protocol Blueprint</a:t>
            </a:r>
          </a:p>
          <a:p>
            <a:pPr>
              <a:spcBef>
                <a:spcPts val="1400"/>
              </a:spcBef>
              <a:defRPr sz="1050">
                <a:solidFill>
                  <a:srgbClr val="CBD5E1"/>
                </a:solidFill>
              </a:defRPr>
            </a:pPr>
            <a:r>
              <a:t>Synthesizes the optimal next-generation trial: pinpointing the therapeutic sweet-spot dose before toxicity escalates, trajectory plateau week, super-responder phenotype, and statistical sample size for 90% power.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USER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Step-by-Step User Walkthrough: How to Use MANDOROS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250" b="1">
                <a:solidFill>
                  <a:srgbClr val="00F5D4"/>
                </a:solidFill>
              </a:defRPr>
            </a:pPr>
            <a:r>
              <a:t>STEP 01 · Stage 1: Extract Single RCT PDF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Drop any clinical trial PDF protocol or published paper into the Stage-1 Uploader, select your AI model, and click 'Run Academic Deep Extraction'. Inspect the 7 relational sheets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250" b="1">
                <a:solidFill>
                  <a:srgbClr val="00F5D4"/>
                </a:solidFill>
              </a:defRPr>
            </a:pPr>
            <a:r>
              <a:t>STEP 02 · Stage 2: Ingest Multi-Trial Cohort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Switch to Tab 2 ('Phase 2 Multi-Trial Synthesis'). Select an existing drug folder or click 'Upload Multiple Files' and drop multiple PDFs/Excels using the glowing batch uploader studio.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250" b="1">
                <a:solidFill>
                  <a:srgbClr val="00F5D4"/>
                </a:solidFill>
              </a:defRPr>
            </a:pPr>
            <a:r>
              <a:t>STEP 03 · Stage 3: Run Synthesis &amp; Inspect Results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Click 'Run Multi-Trial Meta-Analysis'. View the Executive Verdict card, the Divergence Adaptation Strategy, interactive Forest/Funnel plots, SUCRA rankings, and Cochran Q between-subgroup statistics.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250" b="1">
                <a:solidFill>
                  <a:srgbClr val="00F5D4"/>
                </a:solidFill>
              </a:defRPr>
            </a:pPr>
            <a:r>
              <a:t>STEP 04 · Stage 4: Simulate Virtual Trials &amp; Export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</a:defRPr>
            </a:pPr>
            <a:r>
              <a:t>Interact with the Virtual Trial Simulator sliders, review the Reconstructed Missing Data Table, and download the 10-sheet Master Cohort Excel, interactive HTML dashboard, and ZIP archive.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TUTORIAL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How to Generate &amp; Connect a Google AI Studio API Key (BYOK)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914400"/>
          </a:xfrm>
          <a:prstGeom prst="roundRect">
            <a:avLst/>
          </a:prstGeom>
          <a:solidFill>
            <a:srgbClr val="0B162C"/>
          </a:solidFill>
          <a:ln w="1270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100" b="1">
                <a:solidFill>
                  <a:srgbClr val="00F5D4"/>
                </a:solidFill>
              </a:defRPr>
            </a:pPr>
            <a:r>
              <a:t>💡 WHY BRING YOUR OWN KEY (BYOK)?</a:t>
            </a:r>
          </a:p>
          <a:p>
            <a:pPr>
              <a:spcBef>
                <a:spcPts val="200"/>
              </a:spcBef>
              <a:defRPr sz="950">
                <a:solidFill>
                  <a:srgbClr val="F8FAFC"/>
                </a:solidFill>
              </a:defRPr>
            </a:pPr>
            <a:r>
              <a:t>Connecting your personal Google AI Studio key gives you 100% free unlimited quota, maximum Gemini 2.0 Flash / 1.5 Pro processing speeds, prevents shared server rate-limits, and keeps your research completely private.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2514600" cy="320040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400" b="1">
                <a:solidFill>
                  <a:srgbClr val="00F5D4"/>
                </a:solidFill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Visit AI Studio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Go to aistudio.google.com/app/apikey in your browser and sign in with your regular Google account.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834640"/>
            <a:ext cx="2514600" cy="320040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400" b="1">
                <a:solidFill>
                  <a:srgbClr val="38BDF8"/>
                </a:solidFill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Click Create Key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Click the blue button labeled 'Create API key'. Choose any Google Cloud project or click 'Create API key in new project'.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34640"/>
            <a:ext cx="2514600" cy="320040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400" b="1">
                <a:solidFill>
                  <a:srgbClr val="A855F7"/>
                </a:solidFill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Copy Your Key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Copy the generated key string (which starts with AIzaSy...). It is 100% free with generous daily rate limits.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834640"/>
            <a:ext cx="2514600" cy="320040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Paste in MANDOROS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Paste the key into the 'AI Provider API Key' password box in MANDOROS. The platform automatically unlocks deep clinical reasoning.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Universal Export Center &amp; Institutional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MANDOROS KEYNOTE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Universal Publication-Grade Artifacts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7-Sheet Single-Trial Excel: Complete audit-ready relational workbook.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10-Sheet Master Cohort Workbook: Pooled comparison matrix, heatmap, REML results, SUCRA rankings, and virtual trial blueprint.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Standalone Interactive HTML Dashboard: Embedded Plotly Forest/Funnel plots and SUCRA curves for web sharing.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Structured JSON Protocol Trees: Clean programmatic API schema for bioinformatic and computational biology pipelines.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ZIP Bundle Export: All individual study workbooks and cohort reports bundled in one click.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International Methodological Standards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PRISMA 2020: Fully compliant with Preferred Reporting Items for Systematic Reviews and Meta-Analyses.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CONSORT 2010: Aligned with Consolidated Standards of Reporting Trials guidelines for clinical trials.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Cochrane Handbook Core: Inverted-variance weighting, random-effects models, and small-study bias auditing.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GRADE Framework Ready: Transparent confidence grading on all reconstructed and pooled evidence recommendations.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</a:defRPr>
            </a:pPr>
            <a:r>
              <a:t>• Open Science &amp; Reproducibility: Validated to yield identical numerical results to R metafor and netmeta.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r_logo_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90" y="73152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65176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8FAFC"/>
                </a:solidFill>
                <a:latin typeface="Arial"/>
              </a:defRPr>
            </a:pPr>
            <a:r>
              <a:t>Accelerating Medical Discovery Worldwide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4484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BD5E1"/>
                </a:solidFill>
                <a:latin typeface="Arial"/>
              </a:defRPr>
            </a:pPr>
            <a:r>
              <a:t>MANDOROS bridges the gap between massive clinical trial literature and rapid evidence-based medicine. By eliminating manual transcription, enforcing zero-hallucination verbatim citations, and deploying metafor-grade biostatistics, we empower academic institutions, healthcare systems, and pharmaceutical innovators to discover insights that save lives.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4990" y="4937760"/>
            <a:ext cx="6400800" cy="822960"/>
          </a:xfrm>
          <a:prstGeom prst="roundRect">
            <a:avLst/>
          </a:prstGeom>
          <a:solidFill>
            <a:srgbClr val="0B162C"/>
          </a:solidFill>
          <a:ln w="19050"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F5D4"/>
                </a:solidFill>
              </a:defRPr>
            </a:pPr>
            <a:r>
              <a:t>Live Platform: https://mandoros.onrender.com · GitHub: github.com/ahmedmando133/MANDOROS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MANDOROS — Smarter Evidence. Better Decisions. · https://mandoros.onrender.com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8BDF8"/>
                </a:solidFill>
                <a:latin typeface="Arial"/>
              </a:defRPr>
            </a:pPr>
            <a:r>
              <a:t>SLIDE 12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CLINICAL AI GOVERNANCE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Arial"/>
              </a:defRPr>
            </a:pPr>
            <a:r>
              <a:t>MANDOROS PROTOCOL v2.0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Two-Phase Architecture &amp; 10/10 Programmatic Quality Gate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Enforcing Supreme Master Protocols on top of Dynamic Clinical Skills for Zero-Hallucination Evidence Synthesis.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000" b="1">
                <a:solidFill>
                  <a:srgbClr val="EF4444"/>
                </a:solidFill>
                <a:latin typeface="Arial"/>
              </a:defRPr>
            </a:pPr>
            <a:r>
              <a:t>TIER 1: SUPREME LAW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Master Protocols (Non-Negotiable)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Phase 1 Extraction: 35 mandatory rules, zero duplication, PICO alignment, and CONSORT cell-level data normalization.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Phase 2 Meta-Analysis: 21 verified worksheets, Cochrane RoB 2.0 (5 domains), and GRADE certainty framework.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Absolute Authority: Tier 1 protocols override general skills or external LLM defaults 100% without exception.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Zero Assumption Policy: Original research PDF is the supreme source of truth; zero extrapolation.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4592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TIER 2: TECHNICAL MUSCLE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Clinical Skills Library (Execution)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Extraction Skills (Phase 1): 'pdf' (spatial table extraction), 'clinical-reports' (AE taxonomy), 'clinicaltrials-database'.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Biostatistical Skills (Phase 2): 'statistical-analysis' (APA reporting), 'statsmodels' (mixed models, meta-regression).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Decision Support &amp; Review: 'clinical-decision-support' (evidence profiles) and 'peer-review' (CONSORT compliance).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Dynamic runtime injection into system prompts for maximum mathematical rigor.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4592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000" b="1">
                <a:solidFill>
                  <a:srgbClr val="10B981"/>
                </a:solidFill>
                <a:latin typeface="Arial"/>
              </a:defRPr>
            </a:pPr>
            <a:r>
              <a:t>QUALITY GATE: 10/10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Deterministic Validation &amp; Retry Loop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Hard Programmatic Quality Gate: Validates output against strict JSON schemas (phase1_schema &amp; phase2_schema).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Automated Self-Correction Loop: Feeds schema validation errors back to LLM for instant automated self-repair.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Mathematical Sanity Verification: Enforces I² in [0, 100], τ² &gt;= 0, CI lower &lt;= CI upper, and positive ratio scales.</a:t>
            </a:r>
          </a:p>
          <a:p>
            <a:pPr>
              <a:spcAft>
                <a:spcPts val="8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• Local === Render Cloud Parity: Path-agnostic relative routing across both Windows and Render Linux.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MANDOROS • Smarter Evidence. Better Decisions. • Academic &amp; Render Cloud Production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217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38BDF8"/>
                </a:solidFill>
                <a:latin typeface="Arial"/>
              </a:defRPr>
            </a:pPr>
            <a:r>
              <a:t>SLIDE 13 /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5D4"/>
                </a:solidFill>
                <a:latin typeface="Arial"/>
              </a:defRPr>
            </a:pPr>
            <a:r>
              <a:t>EVIDENCE SYNTHESIS &amp; DEEP METHODOLOGICAL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36576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TRIALMIND &amp; RCTMETHODOLOGYIE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Unified 4-Layer Clinical Evidence &amp; Methodological Audit Engine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Production Web Integration: Nature npj Digital Medicine 2025 &amp; AMIA / CONSORT 2010 Verification Gates.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73352"/>
            <a:ext cx="305409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Arial"/>
              </a:defRPr>
            </a:pPr>
            <a:r>
              <a:t>LAYER 3: EVIDENCE SYNTHESIS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TrialMind Synthesis Engine (Nature npj 2025)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PICO Deconstruction &amp; Query Expansion: Formalizes PICO, prunes noise terms, expands MeSH synonyms for &gt;= 78% search recall.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Atomic Eligibility Criteria Builder: Dissects trial goals into single testable inclusion and exclusion properties.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Ternary Screening (+1, -1, 0) &amp; Zero-FN Safeguard: Score 0 never eliminates an article; passes to full-text review.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Chunk-Anchored Extraction: Partitions texts into [Chunk_ID] pairs; all claims unanchored to chunks are rejected.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PRISMA 2020 Flow Integrity: Tracks identified -&gt; screened -&gt; excluded (with reason) -&gt; included.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673352"/>
            <a:ext cx="305409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38BDF8"/>
                </a:solidFill>
                <a:latin typeface="Arial"/>
              </a:defRPr>
            </a:pPr>
            <a:r>
              <a:t>LAYER 4: METHODOLOGICAL AUDIT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RCTMethodologyIE Validity Gate (AMIA 2022)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4-Entity Blinding &amp; Masking Auditor: Independent dissection across Patients, Care Providers, Outcome Assessors, and Statisticians.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Granular Randomization Extractor: Sequence generation (computer/IWRS), subtype (Block/Stratified), and allocation ratios.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Allocation Concealment Auditor: Appraises centralized pharmacy, IWRS/IVRS, and SNOSE mechanisms against selection bias.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Power &amp; Sample Size Validator: Cross-checks planned N vs actual enrollment vs analyzed cohort with dropout bounds.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Trial Architecture Classifier: Parallel Group, Crossover, Factorial; Phase 1 to Phase 4; Superiority/Non-inferiority.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673352"/>
            <a:ext cx="3054096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  <a:latin typeface="Arial"/>
              </a:defRPr>
            </a:pPr>
            <a:r>
              <a:t>VERIFICATION GATES: 10/10</a:t>
            </a:r>
          </a:p>
          <a:p>
            <a:pPr>
              <a:spcAft>
                <a:spcPts val="10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Live Web Middleware &amp; Deterministic Guard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Verbatim Verification Hook: Server-side string validator checks all quotes against text chunks. Zero hallucination guaranteed.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Deterministic Code Interpreter: Strictly eliminates LLM mental math. Pure Python calculates SE, bounds CIs, and standardizes rates.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Algorithmic Cochrane RoB 2.0: Synthesizes extracted methodological features into formal domains (D1-D5) with text justifications.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  <a:latin typeface="Arial"/>
              </a:defRPr>
            </a:pPr>
            <a:r>
              <a:t>• Production Web Integration: Planted in app.py so every live web visitor automatically receives a Certified 10/10 Audit Badge.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989320"/>
            <a:ext cx="10698480" cy="43891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016752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4D399"/>
                </a:solidFill>
                <a:latin typeface="Arial"/>
              </a:defRPr>
            </a:pPr>
            <a:r>
              <a:t>LIVE RUNTIME VERDICT: Zero-Hallucination String Matching  |  Zero-Mental-Math Code Interpreter  |  4-Entity Blinding  |  100% Deterministic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